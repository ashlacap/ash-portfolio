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Public Sans Medium"/>
      <p:regular r:id="rId24"/>
      <p:bold r:id="rId25"/>
      <p:italic r:id="rId26"/>
      <p:boldItalic r:id="rId27"/>
    </p:embeddedFont>
    <p:embeddedFont>
      <p:font typeface="Public Sans"/>
      <p:regular r:id="rId28"/>
      <p:bold r:id="rId29"/>
      <p:italic r:id="rId30"/>
      <p:boldItalic r:id="rId31"/>
    </p:embeddedFont>
    <p:embeddedFont>
      <p:font typeface="Public Sa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9808DE-22AA-48E0-8C92-591A2D1DB0EB}">
  <a:tblStyle styleId="{6E9808DE-22AA-48E0-8C92-591A2D1DB0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PublicSansMedium-regular.fnt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ublicSansMedium-italic.fntdata"/><Relationship Id="rId25" Type="http://schemas.openxmlformats.org/officeDocument/2006/relationships/font" Target="fonts/PublicSansMedium-bold.fntdata"/><Relationship Id="rId28" Type="http://schemas.openxmlformats.org/officeDocument/2006/relationships/font" Target="fonts/PublicSans-regular.fntdata"/><Relationship Id="rId27" Type="http://schemas.openxmlformats.org/officeDocument/2006/relationships/font" Target="fonts/PublicSans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ublic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ublicSans-boldItalic.fntdata"/><Relationship Id="rId30" Type="http://schemas.openxmlformats.org/officeDocument/2006/relationships/font" Target="fonts/PublicSans-italic.fntdata"/><Relationship Id="rId11" Type="http://schemas.openxmlformats.org/officeDocument/2006/relationships/slide" Target="slides/slide4.xml"/><Relationship Id="rId33" Type="http://schemas.openxmlformats.org/officeDocument/2006/relationships/font" Target="fonts/PublicSansSemiBold-bold.fntdata"/><Relationship Id="rId10" Type="http://schemas.openxmlformats.org/officeDocument/2006/relationships/slide" Target="slides/slide3.xml"/><Relationship Id="rId32" Type="http://schemas.openxmlformats.org/officeDocument/2006/relationships/font" Target="fonts/PublicSansSemiBold-regular.fntdata"/><Relationship Id="rId13" Type="http://schemas.openxmlformats.org/officeDocument/2006/relationships/slide" Target="slides/slide6.xml"/><Relationship Id="rId35" Type="http://schemas.openxmlformats.org/officeDocument/2006/relationships/font" Target="fonts/PublicSansSemiBold-boldItalic.fntdata"/><Relationship Id="rId12" Type="http://schemas.openxmlformats.org/officeDocument/2006/relationships/slide" Target="slides/slide5.xml"/><Relationship Id="rId34" Type="http://schemas.openxmlformats.org/officeDocument/2006/relationships/font" Target="fonts/PublicSansSemiBold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3cc391be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3cc391be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3cc391be51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3cc391be51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33475c0c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33475c0c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3475c0c4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33475c0c4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Value sustainability and edgy or unconventional practices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are tired of fake brands and want to feel like they are making a difference,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Liquid death offers customers a chance to be a part of the movement towards fighting the system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sustainable aluminum cans and “death to plastic” mentality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33475c0c4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33475c0c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Steve O is known for shocking and pain inducing stunts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Completely sustainable voodoo doll made of natural material and steve o hair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Tony hawk might relate a bit more to </a:t>
            </a:r>
            <a:r>
              <a:rPr lang="en"/>
              <a:t>millennials</a:t>
            </a:r>
            <a:r>
              <a:rPr lang="en"/>
              <a:t> but he is a beloved skater with a rebellious image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Skateboard had red paint mixed with blood and came with certificate of authenticity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Bad Birdie is </a:t>
            </a:r>
            <a:r>
              <a:rPr lang="en"/>
              <a:t>committed</a:t>
            </a:r>
            <a:r>
              <a:rPr lang="en"/>
              <a:t> to pushing boundaries and bring inclusivity in the gold community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Overall</a:t>
            </a:r>
            <a:r>
              <a:rPr lang="en"/>
              <a:t>: crazy and </a:t>
            </a:r>
            <a:r>
              <a:rPr lang="en"/>
              <a:t>unique campaigns</a:t>
            </a:r>
            <a:r>
              <a:rPr lang="en"/>
              <a:t> from a brand that is dedicated to being edgy and unconventional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33475c0c4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33475c0c4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33475c0c4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33475c0c4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further analyze the market performance and positioning strategy of Liquid Death relative to its competitors, we conducted a preference study.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previous literature, we have identified five attributes for consumers when selecting bottled water/ sparkling water products. They are…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36 valid responses collected, we first examined the average score of the five attributes' importance level. As shown in Figure 1, we can tell that customers prioritize flavor &amp; tastes and cost. Health &amp; nutrition and convenience are equally important while brand name is of less consideration.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33475c0c4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33475c0c4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33475c0c4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33475c0c4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33475c0c4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33475c0c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33475c0c4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33475c0c4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keep Liquid Death’s momentum going, the brand should continue using bold and unconventional marketing tactics.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One major concept is "Thirst Murder Trials", where users submit the most creative ways to "murder their thirst" with a Liquid Death can—this leverages user-generated content (UGC) to spread brand awareness.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Another idea is interactive filters on platforms like Instagram, Snapchat, and TikTok—turning users’ drinks into a Liquid Death can or having them battle "evil plastic bottles" in a game format.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"Funeral for Plastic" event takes sustainability activism to another level by staging an actual funeral for plastic bottles, complete with mourners, speeches, and a dramatic sendoff.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key here is shock value + humor + engagement—Liquid Death thrives when people talk about their outrageous campaigns.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33475c0c4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33475c0c4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Messaging must stay bold, humorous, and impactful—traditional environmental messaging won’t work for this brand.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Expanding slogans like "Bury Boring Beverages" and "Plastic Bottles Deserve Death" keeps messaging fresh and aligns with Liquid Death’s rebellious personality.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Instead of the typical "Save the Planet" approach, Liquid Death should continue with over-the-top horror-style storytelling, framing plastic as the villain and Liquid Death as the hero.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great way to do this is through cinematic ads, digital short films, or animated horror-style campaigns where plastic bottles are portrayed as monsters or criminals.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key takeaway: make sustainability fun, cool, and a movement people actually want to be part of.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33475c0c4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33475c0c4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Liquid Death has already collaborated with Tony Hawk, Steve-O, and other edgy personalities to strengthen its brand appeal.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Moving forward, partnerships should expand beyond extreme sports—think comedians, tattoo artists, underground musicians, and alternative fashion brands.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Example: A partnership with a metal band or horror filmmaker to create limited-edition “Blood Water” (red-colored can design) could be a hit.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Influencers on TikTok and YouTube who specialize in dark humor, sustainability, or extreme stunts would also be great brand advocates.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goal is to keep collaborations unexpected, bold, and subversive, while still aligning with the brand’s anti-corporate, pro-sustainability message.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3f42372d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3f42372d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Liquid Death is not just a water brand—it’s a lifestyle, a movement, and an experience.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Its strong brand identity has helped it stand out, but challenges like price perception, accessibility, and broader appeal remain.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marketing strategy should focus on viral, humorous, and rebellious content to sustain engagement.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Expanding influencer collaborations and leveraging unconventional partnerships will strengthen brand presence.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Ultimately, Liquid Death must continue to disrupt the industry, keep sustainability cool, and never play it safe.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3475c0c4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3475c0c4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Alright, what’s next? More Liquid Death. Everywhere.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1: Get into more stores. More convenience = more sales. Right now, we’re cool, but not always easy to find. That needs to change.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2: Level up influencer collabs. Less extreme sports, more wild personalities. Think comedians, tattoo artists, underground musicians—anyone who screams rebellion.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3: Keep marketing insane. Viral stunts, TikTok filters, maybe even a “Funeral for Plastic” event. The goal? Make hydration entertaining.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Bottom line: Stay bold, stay weird, and NEVER play it safe. The second we get boring, we lose. Let’s keep murdering thirst and making waves.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33475c0c4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33475c0c4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6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6" name="Google Shape;186;p36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7" name="Google Shape;187;p3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2" name="Google Shape;192;p37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93" name="Google Shape;193;p3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8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8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8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7" name="Google Shape;207;p39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8" name="Google Shape;208;p39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9" name="Google Shape;209;p39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11" name="Google Shape;211;p39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5" name="Google Shape;215;p40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6" name="Google Shape;216;p40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7" name="Google Shape;217;p40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19" name="Google Shape;219;p40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3" name="Google Shape;223;p41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41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227" name="Google Shape;227;p4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42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233" name="Google Shape;233;p42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42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42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2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42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2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42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2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4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0" name="Google Shape;250;p43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3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43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43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43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7" name="Google Shape;257;p43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43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9" name="Google Shape;259;p43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3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43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3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4" name="Google Shape;264;p43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1" name="Google Shape;271;p44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2" name="Google Shape;272;p44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73" name="Google Shape;273;p44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44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4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7" name="Google Shape;277;p44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8" name="Google Shape;278;p44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45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3" name="Google Shape;283;p45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4" name="Google Shape;284;p45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5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5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5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8" name="Google Shape;288;p45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5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45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45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45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45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5" name="Google Shape;295;p45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6" name="Google Shape;296;p45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7" name="Google Shape;297;p45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45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45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6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46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8" name="Google Shape;308;p46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46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0" name="Google Shape;310;p46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46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2" name="Google Shape;312;p46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46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46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6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6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6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4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4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7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4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4" name="Google Shape;324;p47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7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6" name="Google Shape;326;p47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47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47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7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47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7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7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4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3" name="Google Shape;343;p49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4" name="Google Shape;344;p49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6" name="Google Shape;346;p4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9" name="Google Shape;349;p5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50" name="Google Shape;350;p5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5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6" name="Google Shape;356;p5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8" name="Google Shape;358;p5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5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51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4" name="Google Shape;364;p5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52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52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52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2" name="Google Shape;372;p52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52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52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5" name="Google Shape;375;p52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2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52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52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2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5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5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53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53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53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7" name="Google Shape;387;p53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53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53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53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53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5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54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54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7" name="Google Shape;397;p54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99" name="Google Shape;399;p54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0" name="Google Shape;400;p54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4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2" name="Google Shape;402;p54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3" name="Google Shape;403;p54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05" name="Google Shape;405;p5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8" name="Google Shape;408;p55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409" name="Google Shape;409;p5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55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55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12" name="Google Shape;412;p55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5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5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55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55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55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8" name="Google Shape;418;p55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9" name="Google Shape;419;p55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6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23" name="Google Shape;423;p56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56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56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6" name="Google Shape;426;p56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56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56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56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56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6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6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433" name="Google Shape;433;p56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4" name="Google Shape;434;p56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56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5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39" name="Google Shape;439;p5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7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1" name="Google Shape;441;p57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7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3" name="Google Shape;443;p57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7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57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57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8" name="Google Shape;448;p57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7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0" name="Google Shape;450;p57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51" name="Google Shape;451;p57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2" name="Google Shape;452;p5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image" Target="../media/image1.jpg"/><Relationship Id="rId6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3.jp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9"/>
          <p:cNvSpPr txBox="1"/>
          <p:nvPr>
            <p:ph type="title"/>
          </p:nvPr>
        </p:nvSpPr>
        <p:spPr>
          <a:xfrm>
            <a:off x="516300" y="290500"/>
            <a:ext cx="8111400" cy="1790700"/>
          </a:xfrm>
          <a:prstGeom prst="rect">
            <a:avLst/>
          </a:prstGeom>
        </p:spPr>
        <p:txBody>
          <a:bodyPr anchorCtr="0" anchor="t" bIns="99575" lIns="99575" spcFirstLastPara="1" rIns="99575" wrap="square" tIns="9957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8"/>
              <a:buFont typeface="Arial"/>
              <a:buNone/>
            </a:pPr>
            <a:r>
              <a:rPr lang="en" sz="7407"/>
              <a:t>Liquid Death</a:t>
            </a:r>
            <a:endParaRPr sz="7407"/>
          </a:p>
        </p:txBody>
      </p:sp>
      <p:sp>
        <p:nvSpPr>
          <p:cNvPr id="460" name="Google Shape;46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1" name="Google Shape;46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1184" y="1433889"/>
            <a:ext cx="3081733" cy="3081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0"/>
          <p:cNvSpPr txBox="1"/>
          <p:nvPr>
            <p:ph type="title"/>
          </p:nvPr>
        </p:nvSpPr>
        <p:spPr>
          <a:xfrm>
            <a:off x="399900" y="37366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Company Overview</a:t>
            </a:r>
            <a:endParaRPr sz="4500"/>
          </a:p>
        </p:txBody>
      </p:sp>
      <p:sp>
        <p:nvSpPr>
          <p:cNvPr id="467" name="Google Shape;467;p60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Founded: 2017 by CEO Mike Cessario in Santa Monica, California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8th most followed beverage brand on social media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Raised nearly $50 million in investment funding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Unique positioning: Anti-Corporate, uses aluminum cans instead of plastic, limited advertising </a:t>
            </a:r>
            <a:endParaRPr/>
          </a:p>
        </p:txBody>
      </p:sp>
      <p:pic>
        <p:nvPicPr>
          <p:cNvPr descr="Liquid Death Mountain Water" id="468" name="Google Shape;46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775" y="490625"/>
            <a:ext cx="1843075" cy="184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ke Cessario, founder of @liquiddeath for @washingtonpost | Photo  Director: @laurenbulbin | Photo Assist: @mortyvision" id="469" name="Google Shape;46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8175" y="490625"/>
            <a:ext cx="1475925" cy="18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1"/>
          <p:cNvSpPr txBox="1"/>
          <p:nvPr>
            <p:ph type="title"/>
          </p:nvPr>
        </p:nvSpPr>
        <p:spPr>
          <a:xfrm>
            <a:off x="399900" y="3696950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Competitive Landscape</a:t>
            </a:r>
            <a:endParaRPr sz="4500"/>
          </a:p>
        </p:txBody>
      </p:sp>
      <p:sp>
        <p:nvSpPr>
          <p:cNvPr id="475" name="Google Shape;475;p61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 Competitors: Dasani, SmartWater, Sparkling Ice, and LaCroix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Competitors: Corona and Heineken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Competitive Advantages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Stands out from traditional water brands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Sustainable aluminium </a:t>
            </a:r>
            <a:r>
              <a:rPr lang="en"/>
              <a:t>packaging</a:t>
            </a:r>
            <a:r>
              <a:rPr lang="en"/>
              <a:t> </a:t>
            </a:r>
            <a:endParaRPr/>
          </a:p>
        </p:txBody>
      </p:sp>
      <p:pic>
        <p:nvPicPr>
          <p:cNvPr descr="Dasani Water Purified Enhanced With Minerals Bottled 15 Count - 10 Fl. Oz.  - jewelosco" id="476" name="Google Shape;47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075" y="475275"/>
            <a:ext cx="1552976" cy="1552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arkling Ice Pink Variety Pack ..." id="477" name="Google Shape;47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075" y="2028250"/>
            <a:ext cx="1552975" cy="1445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Croix Sparkling Water Variety Pack ..." id="478" name="Google Shape;478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3050" y="1920750"/>
            <a:ext cx="1552975" cy="155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.com: smartwater, 1 Liter ..." id="479" name="Google Shape;479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3050" y="475275"/>
            <a:ext cx="1552975" cy="15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2"/>
          <p:cNvSpPr txBox="1"/>
          <p:nvPr>
            <p:ph type="title"/>
          </p:nvPr>
        </p:nvSpPr>
        <p:spPr>
          <a:xfrm>
            <a:off x="399900" y="3920100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Target Customers</a:t>
            </a:r>
            <a:endParaRPr sz="4500"/>
          </a:p>
        </p:txBody>
      </p:sp>
      <p:sp>
        <p:nvSpPr>
          <p:cNvPr id="485" name="Google Shape;485;p62"/>
          <p:cNvSpPr txBox="1"/>
          <p:nvPr>
            <p:ph idx="2" type="body"/>
          </p:nvPr>
        </p:nvSpPr>
        <p:spPr>
          <a:xfrm>
            <a:off x="396725" y="620025"/>
            <a:ext cx="62019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Primary Audience: Gen Z &amp; </a:t>
            </a:r>
            <a:r>
              <a:rPr lang="en"/>
              <a:t>Millennials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Motivations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Drawn to sustainability efforts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Support authentic brands fighting against </a:t>
            </a:r>
            <a:r>
              <a:rPr lang="en"/>
              <a:t>corporate</a:t>
            </a:r>
            <a:r>
              <a:rPr lang="en"/>
              <a:t> greenwashing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Market Approach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Uses modern slang &amp; humor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“Murder Your Thirst”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Strong Social Media Presence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Engages audiences with unconventional marketing campaigns and interactive content </a:t>
            </a:r>
            <a:endParaRPr/>
          </a:p>
        </p:txBody>
      </p:sp>
      <p:pic>
        <p:nvPicPr>
          <p:cNvPr descr="Product Review: Liquid Death Mountain Water - Murder Your Thirst – New  Noise Magazine" id="486" name="Google Shape;48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925" y="472650"/>
            <a:ext cx="2477326" cy="247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3"/>
          <p:cNvSpPr txBox="1"/>
          <p:nvPr>
            <p:ph type="title"/>
          </p:nvPr>
        </p:nvSpPr>
        <p:spPr>
          <a:xfrm>
            <a:off x="571325" y="37576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Collaborations &amp; Partnerships</a:t>
            </a:r>
            <a:endParaRPr sz="4500"/>
          </a:p>
        </p:txBody>
      </p:sp>
      <p:sp>
        <p:nvSpPr>
          <p:cNvPr id="492" name="Google Shape;492;p63"/>
          <p:cNvSpPr txBox="1"/>
          <p:nvPr>
            <p:ph idx="2" type="body"/>
          </p:nvPr>
        </p:nvSpPr>
        <p:spPr>
          <a:xfrm>
            <a:off x="396725" y="620025"/>
            <a:ext cx="42369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Suppliers and Distributors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Supplying Demand Inc. (Internal)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Mountain Water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Wilderness Asset Holding LLC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Aluminum Cans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Aalco, Chesapeake, </a:t>
            </a:r>
            <a:r>
              <a:rPr lang="en"/>
              <a:t>Straub</a:t>
            </a:r>
            <a:r>
              <a:rPr lang="en"/>
              <a:t> Distributing</a:t>
            </a:r>
            <a:endParaRPr/>
          </a:p>
        </p:txBody>
      </p:sp>
      <p:sp>
        <p:nvSpPr>
          <p:cNvPr id="493" name="Google Shape;493;p63"/>
          <p:cNvSpPr txBox="1"/>
          <p:nvPr>
            <p:ph idx="2" type="body"/>
          </p:nvPr>
        </p:nvSpPr>
        <p:spPr>
          <a:xfrm>
            <a:off x="4594575" y="620025"/>
            <a:ext cx="42369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Partnerships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Steve-O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Voodoo Doll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Tony </a:t>
            </a:r>
            <a:r>
              <a:rPr lang="en"/>
              <a:t>Hawk</a:t>
            </a:r>
            <a:r>
              <a:rPr lang="en"/>
              <a:t>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Skateboard with infused blood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 Birdie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Disruptive </a:t>
            </a:r>
            <a:r>
              <a:rPr lang="en"/>
              <a:t>apparel</a:t>
            </a:r>
            <a:r>
              <a:rPr lang="en"/>
              <a:t> </a:t>
            </a:r>
            <a:endParaRPr/>
          </a:p>
        </p:txBody>
      </p:sp>
      <p:pic>
        <p:nvPicPr>
          <p:cNvPr id="494" name="Google Shape;49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850" y="2759625"/>
            <a:ext cx="1438200" cy="107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3"/>
          <p:cNvPicPr preferRelativeResize="0"/>
          <p:nvPr/>
        </p:nvPicPr>
        <p:blipFill rotWithShape="1">
          <a:blip r:embed="rId4">
            <a:alphaModFix/>
          </a:blip>
          <a:srcRect b="9060" l="0" r="0" t="6266"/>
          <a:stretch/>
        </p:blipFill>
        <p:spPr>
          <a:xfrm>
            <a:off x="2868975" y="2571750"/>
            <a:ext cx="1272685" cy="13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/>
          <p:nvPr/>
        </p:nvSpPr>
        <p:spPr>
          <a:xfrm>
            <a:off x="4185685" y="629650"/>
            <a:ext cx="2819400" cy="14664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1" name="Google Shape;501;p64"/>
          <p:cNvSpPr txBox="1"/>
          <p:nvPr/>
        </p:nvSpPr>
        <p:spPr>
          <a:xfrm>
            <a:off x="4386400" y="1211202"/>
            <a:ext cx="2964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Import Tariffs: 10% - 25%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Stricter</a:t>
            </a: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  EPA Rules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sp>
        <p:nvSpPr>
          <p:cNvPr id="502" name="Google Shape;502;p64"/>
          <p:cNvSpPr txBox="1"/>
          <p:nvPr>
            <p:ph type="title"/>
          </p:nvPr>
        </p:nvSpPr>
        <p:spPr>
          <a:xfrm>
            <a:off x="399900" y="3836550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Market Trends &amp; Environmental Factors</a:t>
            </a:r>
            <a:endParaRPr sz="3500"/>
          </a:p>
        </p:txBody>
      </p:sp>
      <p:sp>
        <p:nvSpPr>
          <p:cNvPr id="503" name="Google Shape;503;p64"/>
          <p:cNvSpPr/>
          <p:nvPr/>
        </p:nvSpPr>
        <p:spPr>
          <a:xfrm>
            <a:off x="345075" y="629650"/>
            <a:ext cx="2819400" cy="1466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4" name="Google Shape;504;p64"/>
          <p:cNvSpPr/>
          <p:nvPr/>
        </p:nvSpPr>
        <p:spPr>
          <a:xfrm>
            <a:off x="1831452" y="2039940"/>
            <a:ext cx="2819400" cy="1706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5" name="Google Shape;505;p64"/>
          <p:cNvSpPr/>
          <p:nvPr/>
        </p:nvSpPr>
        <p:spPr>
          <a:xfrm>
            <a:off x="5595275" y="1990477"/>
            <a:ext cx="2819400" cy="1706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6" name="Google Shape;506;p64"/>
          <p:cNvSpPr txBox="1"/>
          <p:nvPr/>
        </p:nvSpPr>
        <p:spPr>
          <a:xfrm>
            <a:off x="414972" y="848083"/>
            <a:ext cx="2679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rPr>
              <a:t>Economic Trends</a:t>
            </a:r>
            <a:endParaRPr b="1" sz="1600">
              <a:solidFill>
                <a:schemeClr val="accent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7" name="Google Shape;507;p64"/>
          <p:cNvSpPr txBox="1"/>
          <p:nvPr/>
        </p:nvSpPr>
        <p:spPr>
          <a:xfrm>
            <a:off x="2095589" y="2261202"/>
            <a:ext cx="22908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rPr>
              <a:t>Technological Advances</a:t>
            </a:r>
            <a:endParaRPr b="1">
              <a:solidFill>
                <a:schemeClr val="accent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8" name="Google Shape;508;p64"/>
          <p:cNvSpPr txBox="1"/>
          <p:nvPr/>
        </p:nvSpPr>
        <p:spPr>
          <a:xfrm>
            <a:off x="4255576" y="848075"/>
            <a:ext cx="2679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rPr>
              <a:t>Regulatory Environment</a:t>
            </a:r>
            <a:endParaRPr b="1" sz="1600">
              <a:solidFill>
                <a:schemeClr val="accent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9" name="Google Shape;509;p64"/>
          <p:cNvSpPr txBox="1"/>
          <p:nvPr/>
        </p:nvSpPr>
        <p:spPr>
          <a:xfrm>
            <a:off x="5834336" y="2261202"/>
            <a:ext cx="23412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Public Sans"/>
                <a:ea typeface="Public Sans"/>
                <a:cs typeface="Public Sans"/>
                <a:sym typeface="Public Sans"/>
              </a:rPr>
              <a:t>Social Dynamics</a:t>
            </a:r>
            <a:endParaRPr b="1" sz="1600">
              <a:solidFill>
                <a:schemeClr val="accent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0" name="Google Shape;510;p64"/>
          <p:cNvSpPr txBox="1"/>
          <p:nvPr/>
        </p:nvSpPr>
        <p:spPr>
          <a:xfrm>
            <a:off x="569675" y="1090589"/>
            <a:ext cx="29646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Revenue: $45m - $130m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Consumer Adoption: 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2.5% - 5.5% 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sp>
        <p:nvSpPr>
          <p:cNvPr id="511" name="Google Shape;511;p64"/>
          <p:cNvSpPr txBox="1"/>
          <p:nvPr/>
        </p:nvSpPr>
        <p:spPr>
          <a:xfrm>
            <a:off x="1983103" y="2589106"/>
            <a:ext cx="2964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Sus &amp; Eco-F</a:t>
            </a: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riendly</a:t>
            </a: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 Packaging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Biotechnology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Purification Techniques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sp>
        <p:nvSpPr>
          <p:cNvPr id="512" name="Google Shape;512;p64"/>
          <p:cNvSpPr txBox="1"/>
          <p:nvPr/>
        </p:nvSpPr>
        <p:spPr>
          <a:xfrm>
            <a:off x="5834336" y="2571756"/>
            <a:ext cx="2964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Thriving Digital Platforms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Cultural Influence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E-Word- of-Mouth</a:t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5"/>
          <p:cNvSpPr txBox="1"/>
          <p:nvPr>
            <p:ph type="title"/>
          </p:nvPr>
        </p:nvSpPr>
        <p:spPr>
          <a:xfrm>
            <a:off x="399900" y="3704300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Key Purchase Attributes</a:t>
            </a:r>
            <a:endParaRPr sz="4500"/>
          </a:p>
        </p:txBody>
      </p:sp>
      <p:pic>
        <p:nvPicPr>
          <p:cNvPr id="518" name="Google Shape;518;p65" title="Chart"/>
          <p:cNvPicPr preferRelativeResize="0"/>
          <p:nvPr/>
        </p:nvPicPr>
        <p:blipFill rotWithShape="1">
          <a:blip r:embed="rId3">
            <a:alphaModFix/>
          </a:blip>
          <a:srcRect b="0" l="0" r="0" t="10858"/>
          <a:stretch/>
        </p:blipFill>
        <p:spPr>
          <a:xfrm>
            <a:off x="4816150" y="1569950"/>
            <a:ext cx="4039900" cy="2227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9" name="Google Shape;519;p65"/>
          <p:cNvGraphicFramePr/>
          <p:nvPr/>
        </p:nvGraphicFramePr>
        <p:xfrm>
          <a:off x="554275" y="65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{6E9808DE-22AA-48E0-8C92-591A2D1DB0EB}</a:tableStyleId>
              </a:tblPr>
              <a:tblGrid>
                <a:gridCol w="1710050"/>
                <a:gridCol w="2369275"/>
              </a:tblGrid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Attributes</a:t>
                      </a:r>
                      <a:endParaRPr b="1" sz="16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Source</a:t>
                      </a:r>
                      <a:endParaRPr b="1" sz="16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</a:tr>
              <a:tr h="71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Flavor &amp; Taste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Geissler &amp; Gamble, 2008; 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Wright, 2014; 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An et al.,2022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</a:tr>
              <a:tr h="52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Health &amp; Nutrition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Wright, 2014; 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An et al.,2022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Cost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Geissler &amp; Gamble, 2008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</a:tr>
              <a:tr h="38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Convenience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Wright, 2014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</a:tr>
              <a:tr h="52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Brand &amp; Experiences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Geissler &amp; Gamble, 2008; 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Wright, 2014</a:t>
                      </a:r>
                      <a:endParaRPr sz="1300">
                        <a:solidFill>
                          <a:schemeClr val="dk1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0" name="Google Shape;520;p65"/>
          <p:cNvSpPr txBox="1"/>
          <p:nvPr/>
        </p:nvSpPr>
        <p:spPr>
          <a:xfrm>
            <a:off x="4816150" y="1082475"/>
            <a:ext cx="420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Figure 1. Average of the Customer Rated Importance of Attributes When Purchasing Bottled Water</a:t>
            </a:r>
            <a:endParaRPr i="1"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1" name="Google Shape;521;p65"/>
          <p:cNvSpPr/>
          <p:nvPr/>
        </p:nvSpPr>
        <p:spPr>
          <a:xfrm>
            <a:off x="5642025" y="3643850"/>
            <a:ext cx="186000" cy="111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2" name="Google Shape;522;p65"/>
          <p:cNvSpPr/>
          <p:nvPr/>
        </p:nvSpPr>
        <p:spPr>
          <a:xfrm>
            <a:off x="6890775" y="3643850"/>
            <a:ext cx="186000" cy="111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6"/>
          <p:cNvSpPr txBox="1"/>
          <p:nvPr>
            <p:ph type="title"/>
          </p:nvPr>
        </p:nvSpPr>
        <p:spPr>
          <a:xfrm>
            <a:off x="399900" y="37172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Customer Perception Analysis</a:t>
            </a:r>
            <a:endParaRPr sz="4500"/>
          </a:p>
        </p:txBody>
      </p:sp>
      <p:pic>
        <p:nvPicPr>
          <p:cNvPr id="528" name="Google Shape;528;p66"/>
          <p:cNvPicPr preferRelativeResize="0"/>
          <p:nvPr/>
        </p:nvPicPr>
        <p:blipFill rotWithShape="1">
          <a:blip r:embed="rId3">
            <a:alphaModFix/>
          </a:blip>
          <a:srcRect b="5412" l="22273" r="22920" t="5126"/>
          <a:stretch/>
        </p:blipFill>
        <p:spPr>
          <a:xfrm>
            <a:off x="695498" y="778725"/>
            <a:ext cx="3201570" cy="293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6"/>
          <p:cNvPicPr preferRelativeResize="0"/>
          <p:nvPr/>
        </p:nvPicPr>
        <p:blipFill rotWithShape="1">
          <a:blip r:embed="rId4">
            <a:alphaModFix/>
          </a:blip>
          <a:srcRect b="0" l="0" r="0" t="21148"/>
          <a:stretch/>
        </p:blipFill>
        <p:spPr>
          <a:xfrm>
            <a:off x="4855613" y="1256450"/>
            <a:ext cx="3714834" cy="26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6"/>
          <p:cNvSpPr txBox="1"/>
          <p:nvPr/>
        </p:nvSpPr>
        <p:spPr>
          <a:xfrm>
            <a:off x="4273325" y="620025"/>
            <a:ext cx="433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Figure 2. Comparison of Customers’ Rating on Liquid Death and Its Competitors Among the Five Attributes</a:t>
            </a:r>
            <a:endParaRPr i="1" sz="11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1" name="Google Shape;531;p66"/>
          <p:cNvSpPr txBox="1"/>
          <p:nvPr/>
        </p:nvSpPr>
        <p:spPr>
          <a:xfrm>
            <a:off x="5608925" y="34987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Public Sans"/>
                <a:ea typeface="Public Sans"/>
                <a:cs typeface="Public Sans"/>
                <a:sym typeface="Public Sans"/>
              </a:rPr>
              <a:t>Figure 3</a:t>
            </a:r>
            <a:r>
              <a:rPr i="1" lang="en" sz="1100">
                <a:latin typeface="Public Sans"/>
                <a:ea typeface="Public Sans"/>
                <a:cs typeface="Public Sans"/>
                <a:sym typeface="Public Sans"/>
              </a:rPr>
              <a:t>. Factor Loading Diagram</a:t>
            </a:r>
            <a:endParaRPr i="1" sz="11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Public Sans"/>
                <a:ea typeface="Public Sans"/>
                <a:cs typeface="Public Sans"/>
                <a:sym typeface="Public Sans"/>
              </a:rPr>
              <a:t>***P-value &lt; .001</a:t>
            </a:r>
            <a:endParaRPr i="1" sz="900"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532" name="Google Shape;532;p66"/>
          <p:cNvCxnSpPr/>
          <p:nvPr/>
        </p:nvCxnSpPr>
        <p:spPr>
          <a:xfrm flipH="1" rot="10800000">
            <a:off x="949506" y="1195734"/>
            <a:ext cx="1377300" cy="6600"/>
          </a:xfrm>
          <a:prstGeom prst="straightConnector1">
            <a:avLst/>
          </a:prstGeom>
          <a:noFill/>
          <a:ln cap="flat" cmpd="sng" w="15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66"/>
          <p:cNvCxnSpPr/>
          <p:nvPr/>
        </p:nvCxnSpPr>
        <p:spPr>
          <a:xfrm flipH="1" rot="10800000">
            <a:off x="949506" y="2244735"/>
            <a:ext cx="1377300" cy="6600"/>
          </a:xfrm>
          <a:prstGeom prst="straightConnector1">
            <a:avLst/>
          </a:prstGeom>
          <a:noFill/>
          <a:ln cap="flat" cmpd="sng" w="15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66"/>
          <p:cNvCxnSpPr/>
          <p:nvPr/>
        </p:nvCxnSpPr>
        <p:spPr>
          <a:xfrm flipH="1" rot="10800000">
            <a:off x="2529576" y="1280601"/>
            <a:ext cx="1377300" cy="6600"/>
          </a:xfrm>
          <a:prstGeom prst="straightConnector1">
            <a:avLst/>
          </a:prstGeom>
          <a:noFill/>
          <a:ln cap="flat" cmpd="sng" w="15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66"/>
          <p:cNvCxnSpPr/>
          <p:nvPr/>
        </p:nvCxnSpPr>
        <p:spPr>
          <a:xfrm flipH="1" rot="10800000">
            <a:off x="2543256" y="2220992"/>
            <a:ext cx="1377300" cy="6600"/>
          </a:xfrm>
          <a:prstGeom prst="straightConnector1">
            <a:avLst/>
          </a:prstGeom>
          <a:noFill/>
          <a:ln cap="flat" cmpd="sng" w="15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66"/>
          <p:cNvCxnSpPr/>
          <p:nvPr/>
        </p:nvCxnSpPr>
        <p:spPr>
          <a:xfrm flipH="1" rot="10800000">
            <a:off x="1000752" y="3172625"/>
            <a:ext cx="1377300" cy="6600"/>
          </a:xfrm>
          <a:prstGeom prst="straightConnector1">
            <a:avLst/>
          </a:prstGeom>
          <a:noFill/>
          <a:ln cap="flat" cmpd="sng" w="157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66"/>
          <p:cNvSpPr/>
          <p:nvPr/>
        </p:nvSpPr>
        <p:spPr>
          <a:xfrm>
            <a:off x="3049682" y="1858949"/>
            <a:ext cx="153600" cy="91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7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8" name="Google Shape;538;p66"/>
          <p:cNvSpPr/>
          <p:nvPr/>
        </p:nvSpPr>
        <p:spPr>
          <a:xfrm>
            <a:off x="1495689" y="2803205"/>
            <a:ext cx="153600" cy="91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7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75" lIns="75575" spcFirstLastPara="1" rIns="75575" wrap="square" tIns="7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7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7"/>
          <p:cNvSpPr txBox="1"/>
          <p:nvPr>
            <p:ph type="title"/>
          </p:nvPr>
        </p:nvSpPr>
        <p:spPr>
          <a:xfrm>
            <a:off x="39990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Market Segment Findings</a:t>
            </a:r>
            <a:endParaRPr sz="4500"/>
          </a:p>
        </p:txBody>
      </p:sp>
      <p:sp>
        <p:nvSpPr>
          <p:cNvPr id="544" name="Google Shape;544;p67"/>
          <p:cNvSpPr txBox="1"/>
          <p:nvPr>
            <p:ph idx="2" type="body"/>
          </p:nvPr>
        </p:nvSpPr>
        <p:spPr>
          <a:xfrm>
            <a:off x="396725" y="620025"/>
            <a:ext cx="4848000" cy="29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Consumer Preferences in Bottled Water and Sparkling Water Market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/>
              <a:t>Market Segmentation: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" sz="1000"/>
              <a:t>Red Cluster:</a:t>
            </a:r>
            <a:r>
              <a:rPr lang="en" sz="1000"/>
              <a:t> Consumers  Prioritizes </a:t>
            </a:r>
            <a:r>
              <a:rPr b="1" lang="en" sz="1000"/>
              <a:t>brand experience, uniqueness, and lifestyle appeal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" sz="1000"/>
              <a:t>Blue Cluster:</a:t>
            </a:r>
            <a:r>
              <a:rPr lang="en" sz="1000"/>
              <a:t> Consumers focusing on </a:t>
            </a:r>
            <a:r>
              <a:rPr b="1" lang="en" sz="1000"/>
              <a:t>taste, health benefits, and convenience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/>
              <a:t>Key Insight: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/>
              <a:t>Clusters reveal </a:t>
            </a:r>
            <a:r>
              <a:rPr b="1" lang="en" sz="1000"/>
              <a:t>different priorities of the consumers </a:t>
            </a:r>
            <a:br>
              <a:rPr b="1" lang="en" sz="1000"/>
            </a:br>
            <a:r>
              <a:rPr b="1" lang="en" sz="1000"/>
              <a:t>(brand vs. functional benefits)</a:t>
            </a:r>
            <a:endParaRPr sz="1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/>
              <a:t>Customer Priorities (Radar Chart Insights):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" sz="1000"/>
              <a:t>Leverage </a:t>
            </a:r>
            <a:r>
              <a:rPr b="1" lang="en" sz="1000"/>
              <a:t>brand strength</a:t>
            </a:r>
            <a:r>
              <a:rPr lang="en" sz="1000"/>
              <a:t> while improving taste perception &amp; convenience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545" name="Google Shape;54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700" y="787425"/>
            <a:ext cx="3492850" cy="25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8"/>
          <p:cNvSpPr txBox="1"/>
          <p:nvPr>
            <p:ph type="title"/>
          </p:nvPr>
        </p:nvSpPr>
        <p:spPr>
          <a:xfrm>
            <a:off x="584075" y="3797900"/>
            <a:ext cx="75738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Liquid Death Brand Voice</a:t>
            </a:r>
            <a:endParaRPr sz="4500"/>
          </a:p>
        </p:txBody>
      </p:sp>
      <p:sp>
        <p:nvSpPr>
          <p:cNvPr id="551" name="Google Shape;551;p68"/>
          <p:cNvSpPr txBox="1"/>
          <p:nvPr>
            <p:ph idx="2" type="body"/>
          </p:nvPr>
        </p:nvSpPr>
        <p:spPr>
          <a:xfrm>
            <a:off x="396725" y="620025"/>
            <a:ext cx="79485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Branding Strategy: Resonating with Consumers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Target Audience: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Punk Rap Music Fans &amp; Band Enthusiasts: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Nostalgic, "cool" factor that resonates with music culture.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Collaborate with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bands, extreme sports, &amp; influencers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Non-Alcohol Consumers at Parties: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Blending in while staying sober.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Introduce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new product variants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Partner with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health &amp; fitness influencers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Expansion Strategy to Boost Convenience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Increase Retail Presence at Gas stations, airports, concert venues, fitness centers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Optimize e-commerce &amp; direct-to-consumer sales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9"/>
          <p:cNvSpPr txBox="1"/>
          <p:nvPr>
            <p:ph type="title"/>
          </p:nvPr>
        </p:nvSpPr>
        <p:spPr>
          <a:xfrm>
            <a:off x="39990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Viral Campaign Ideas</a:t>
            </a:r>
            <a:endParaRPr sz="4500"/>
          </a:p>
        </p:txBody>
      </p:sp>
      <p:sp>
        <p:nvSpPr>
          <p:cNvPr id="557" name="Google Shape;557;p69"/>
          <p:cNvSpPr txBox="1"/>
          <p:nvPr>
            <p:ph idx="2" type="body"/>
          </p:nvPr>
        </p:nvSpPr>
        <p:spPr>
          <a:xfrm>
            <a:off x="396725" y="620025"/>
            <a:ext cx="24699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Thirst Murder Trials</a:t>
            </a:r>
            <a:endParaRPr/>
          </a:p>
        </p:txBody>
      </p:sp>
      <p:sp>
        <p:nvSpPr>
          <p:cNvPr id="558" name="Google Shape;558;p69"/>
          <p:cNvSpPr txBox="1"/>
          <p:nvPr>
            <p:ph idx="2" type="body"/>
          </p:nvPr>
        </p:nvSpPr>
        <p:spPr>
          <a:xfrm>
            <a:off x="3275588" y="2923575"/>
            <a:ext cx="24699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Media Filters</a:t>
            </a:r>
            <a:endParaRPr/>
          </a:p>
        </p:txBody>
      </p:sp>
      <p:sp>
        <p:nvSpPr>
          <p:cNvPr id="559" name="Google Shape;559;p69"/>
          <p:cNvSpPr txBox="1"/>
          <p:nvPr>
            <p:ph idx="2" type="body"/>
          </p:nvPr>
        </p:nvSpPr>
        <p:spPr>
          <a:xfrm>
            <a:off x="5978875" y="620025"/>
            <a:ext cx="24699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“Funeral for Plastic”</a:t>
            </a:r>
            <a:endParaRPr/>
          </a:p>
        </p:txBody>
      </p:sp>
      <p:pic>
        <p:nvPicPr>
          <p:cNvPr id="560" name="Google Shape;56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00" y="1092000"/>
            <a:ext cx="22669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622" y="1092000"/>
            <a:ext cx="2353828" cy="157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5938" y="1092000"/>
            <a:ext cx="1998750" cy="19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0"/>
          <p:cNvSpPr txBox="1"/>
          <p:nvPr>
            <p:ph type="title"/>
          </p:nvPr>
        </p:nvSpPr>
        <p:spPr>
          <a:xfrm>
            <a:off x="498675" y="3740750"/>
            <a:ext cx="83442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Content &amp; Messaging Strategy</a:t>
            </a:r>
            <a:endParaRPr sz="4300"/>
          </a:p>
        </p:txBody>
      </p:sp>
      <p:sp>
        <p:nvSpPr>
          <p:cNvPr id="568" name="Google Shape;568;p70"/>
          <p:cNvSpPr txBox="1"/>
          <p:nvPr>
            <p:ph idx="2" type="body"/>
          </p:nvPr>
        </p:nvSpPr>
        <p:spPr>
          <a:xfrm>
            <a:off x="498675" y="3378900"/>
            <a:ext cx="21504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Humor</a:t>
            </a:r>
            <a:endParaRPr b="1"/>
          </a:p>
        </p:txBody>
      </p:sp>
      <p:sp>
        <p:nvSpPr>
          <p:cNvPr id="569" name="Google Shape;569;p70"/>
          <p:cNvSpPr txBox="1"/>
          <p:nvPr>
            <p:ph idx="2" type="body"/>
          </p:nvPr>
        </p:nvSpPr>
        <p:spPr>
          <a:xfrm>
            <a:off x="3496800" y="554004"/>
            <a:ext cx="21504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Rebellion</a:t>
            </a:r>
            <a:endParaRPr b="1"/>
          </a:p>
        </p:txBody>
      </p:sp>
      <p:sp>
        <p:nvSpPr>
          <p:cNvPr id="570" name="Google Shape;570;p70"/>
          <p:cNvSpPr txBox="1"/>
          <p:nvPr>
            <p:ph idx="2" type="body"/>
          </p:nvPr>
        </p:nvSpPr>
        <p:spPr>
          <a:xfrm>
            <a:off x="6372000" y="3378900"/>
            <a:ext cx="21504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Sustainability</a:t>
            </a:r>
            <a:endParaRPr b="1"/>
          </a:p>
        </p:txBody>
      </p:sp>
      <p:pic>
        <p:nvPicPr>
          <p:cNvPr id="571" name="Google Shape;57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8" y="1035050"/>
            <a:ext cx="2417576" cy="198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413" y="987168"/>
            <a:ext cx="3043825" cy="222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6550" y="675712"/>
            <a:ext cx="4825898" cy="270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1"/>
          <p:cNvSpPr txBox="1"/>
          <p:nvPr>
            <p:ph type="title"/>
          </p:nvPr>
        </p:nvSpPr>
        <p:spPr>
          <a:xfrm>
            <a:off x="399900" y="36849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Influencer &amp; Brand Collaborations</a:t>
            </a:r>
            <a:endParaRPr sz="4000"/>
          </a:p>
        </p:txBody>
      </p:sp>
      <p:sp>
        <p:nvSpPr>
          <p:cNvPr id="579" name="Google Shape;579;p71"/>
          <p:cNvSpPr txBox="1"/>
          <p:nvPr>
            <p:ph idx="2" type="body"/>
          </p:nvPr>
        </p:nvSpPr>
        <p:spPr>
          <a:xfrm>
            <a:off x="967925" y="763650"/>
            <a:ext cx="2680200" cy="6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Extreme Sports </a:t>
            </a:r>
            <a:endParaRPr sz="2700"/>
          </a:p>
        </p:txBody>
      </p:sp>
      <p:pic>
        <p:nvPicPr>
          <p:cNvPr id="580" name="Google Shape;58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523" y="588675"/>
            <a:ext cx="1042949" cy="104294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71"/>
          <p:cNvSpPr txBox="1"/>
          <p:nvPr>
            <p:ph idx="2" type="body"/>
          </p:nvPr>
        </p:nvSpPr>
        <p:spPr>
          <a:xfrm>
            <a:off x="5372925" y="637350"/>
            <a:ext cx="2680200" cy="9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Comedy, </a:t>
            </a:r>
            <a:r>
              <a:rPr lang="en"/>
              <a:t>Tattoo Culture, Underground Music</a:t>
            </a:r>
            <a:endParaRPr/>
          </a:p>
        </p:txBody>
      </p:sp>
      <p:sp>
        <p:nvSpPr>
          <p:cNvPr id="582" name="Google Shape;582;p71"/>
          <p:cNvSpPr txBox="1"/>
          <p:nvPr>
            <p:ph idx="2" type="body"/>
          </p:nvPr>
        </p:nvSpPr>
        <p:spPr>
          <a:xfrm>
            <a:off x="962775" y="2392275"/>
            <a:ext cx="73416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Unexpected, Bold, and Subversive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Anti-Corporate &amp; Pro-</a:t>
            </a:r>
            <a:r>
              <a:rPr lang="en" sz="2700"/>
              <a:t>Sustainability</a:t>
            </a:r>
            <a:endParaRPr sz="2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2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588" name="Google Shape;588;p72"/>
          <p:cNvSpPr txBox="1"/>
          <p:nvPr>
            <p:ph idx="2" type="body"/>
          </p:nvPr>
        </p:nvSpPr>
        <p:spPr>
          <a:xfrm>
            <a:off x="396725" y="620025"/>
            <a:ext cx="7272600" cy="3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Liquid Death’s strong brand identity but challenges with accessibility &amp; perception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Edgy &amp; viral marketing tactics make it stand out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Opportunities for growth: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Improve retail presence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Enhance health-related branding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Expand collaborations beyond niche markets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589" name="Google Shape;58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377" y="3116650"/>
            <a:ext cx="2091899" cy="134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020" y="1161825"/>
            <a:ext cx="2548905" cy="254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3"/>
          <p:cNvSpPr txBox="1"/>
          <p:nvPr>
            <p:ph type="title"/>
          </p:nvPr>
        </p:nvSpPr>
        <p:spPr>
          <a:xfrm>
            <a:off x="516425" y="509675"/>
            <a:ext cx="67359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Execution Plan</a:t>
            </a:r>
            <a:endParaRPr sz="4500"/>
          </a:p>
        </p:txBody>
      </p:sp>
      <p:sp>
        <p:nvSpPr>
          <p:cNvPr id="596" name="Google Shape;596;p73"/>
          <p:cNvSpPr txBox="1"/>
          <p:nvPr>
            <p:ph idx="2" type="body"/>
          </p:nvPr>
        </p:nvSpPr>
        <p:spPr>
          <a:xfrm>
            <a:off x="516425" y="1389250"/>
            <a:ext cx="8344200" cy="29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retail partnerships for better accessibility</a:t>
            </a:r>
            <a:endParaRPr/>
          </a:p>
          <a:p>
            <a:pPr indent="-342900" lvl="0" marL="45720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Diversify influencer partnerships for broader appeal</a:t>
            </a:r>
            <a:endParaRPr/>
          </a:p>
          <a:p>
            <a:pPr indent="-342900" lvl="0" marL="45720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 humor-based, rebellious, and viral campaigns</a:t>
            </a:r>
            <a:endParaRPr sz="2500"/>
          </a:p>
        </p:txBody>
      </p:sp>
      <p:pic>
        <p:nvPicPr>
          <p:cNvPr id="597" name="Google Shape;597;p73" title="image_2025-03-11_0237568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479" y="1296875"/>
            <a:ext cx="2135925" cy="213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3250" y="2892550"/>
            <a:ext cx="3030550" cy="17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4"/>
          <p:cNvSpPr txBox="1"/>
          <p:nvPr>
            <p:ph type="title"/>
          </p:nvPr>
        </p:nvSpPr>
        <p:spPr>
          <a:xfrm>
            <a:off x="1236150" y="1548300"/>
            <a:ext cx="6671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04" name="Google Shape;604;p74"/>
          <p:cNvSpPr txBox="1"/>
          <p:nvPr>
            <p:ph type="title"/>
          </p:nvPr>
        </p:nvSpPr>
        <p:spPr>
          <a:xfrm>
            <a:off x="1236150" y="3101200"/>
            <a:ext cx="66717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Questions?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